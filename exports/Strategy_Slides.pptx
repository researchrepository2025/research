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Strategy vs. Goals vs. Tactics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374151"/>
                </a:solidFill>
              </a:defRPr>
            </a:pPr>
            <a:r>
              <a:t>Understanding the hierarchy of corporate 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1371600"/>
            <a:ext cx="5790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STRATEGY  --&gt;  GOALS  --&gt;  TACTICS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828800"/>
            <a:ext cx="1097280" cy="3200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945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374151"/>
                </a:solidFill>
              </a:defRPr>
            </a:pPr>
            <a:r>
              <a:t>Where &amp; how to compete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46888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E40AF"/>
                </a:solidFill>
              </a:defRPr>
            </a:pPr>
            <a:r>
              <a:t>DEFINITION</a:t>
            </a:r>
          </a:p>
          <a:p>
            <a:pPr>
              <a:defRPr sz="900"/>
            </a:pPr>
            <a:r>
              <a:t>An integrated set of choices that uniquely position an organization to create sustainable competitive advantage--including explicit trade-offs about what NOT to 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747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E40AF"/>
                </a:solidFill>
              </a:defRPr>
            </a:pPr>
            <a:r>
              <a:t>KEY COMPONENTS</a:t>
            </a:r>
          </a:p>
          <a:p>
            <a:pPr>
              <a:defRPr sz="900"/>
            </a:pPr>
            <a:r>
              <a:t>  Where to Play</a:t>
            </a:r>
          </a:p>
          <a:p>
            <a:pPr>
              <a:defRPr sz="900"/>
            </a:pPr>
            <a:r>
              <a:t>  How to Win</a:t>
            </a:r>
          </a:p>
          <a:p>
            <a:pPr>
              <a:defRPr sz="900"/>
            </a:pPr>
            <a:r>
              <a:t>  Trade-offs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29768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6A34A"/>
                </a:solidFill>
              </a:defRPr>
            </a:pPr>
            <a:r>
              <a:t>CORRECT</a:t>
            </a:r>
          </a:p>
          <a:p>
            <a:pPr>
              <a:defRPr sz="800" i="1"/>
            </a:pPr>
            <a:r>
              <a:t>"Dominate mid-market manufacturing software through vertical specialization. We will NOT pursue enterprise accounts."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12064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DC2626"/>
                </a:solidFill>
              </a:defRPr>
            </a:pPr>
            <a:r>
              <a:t>INCORRECT</a:t>
            </a:r>
          </a:p>
          <a:p>
            <a:pPr>
              <a:defRPr sz="800" i="1"/>
            </a:pPr>
            <a:r>
              <a:t>"Be the best software company and grow revenue 20%."</a:t>
            </a:r>
          </a:p>
          <a:p>
            <a:pPr>
              <a:defRPr sz="700">
                <a:solidFill>
                  <a:srgbClr val="DC2626"/>
                </a:solidFill>
              </a:defRPr>
            </a:pPr>
            <a:r>
              <a:t>  No choices, no trade-offs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828800"/>
            <a:ext cx="1097280" cy="32004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GOALS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1945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374151"/>
                </a:solidFill>
              </a:defRPr>
            </a:pPr>
            <a:r>
              <a:t>What outcomes to achieve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46888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59669"/>
                </a:solidFill>
              </a:defRPr>
            </a:pPr>
            <a:r>
              <a:t>DEFINITION</a:t>
            </a:r>
          </a:p>
          <a:p>
            <a:pPr>
              <a:defRPr sz="900"/>
            </a:pPr>
            <a:r>
              <a:t>Specific, measurable outcomes with defined timeframes that translate strategic intent into concrete targets.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34747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059669"/>
                </a:solidFill>
              </a:defRPr>
            </a:pPr>
            <a:r>
              <a:t>KEY COMPONENTS</a:t>
            </a:r>
          </a:p>
          <a:p>
            <a:pPr>
              <a:defRPr sz="900"/>
            </a:pPr>
            <a:r>
              <a:t>  Specific</a:t>
            </a:r>
          </a:p>
          <a:p>
            <a:pPr>
              <a:defRPr sz="900"/>
            </a:pPr>
            <a:r>
              <a:t>  Measurable</a:t>
            </a:r>
          </a:p>
          <a:p>
            <a:pPr>
              <a:defRPr sz="900"/>
            </a:pPr>
            <a:r>
              <a:t>  Achievable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429768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6A34A"/>
                </a:solidFill>
              </a:defRPr>
            </a:pPr>
            <a:r>
              <a:t>CORRECT</a:t>
            </a:r>
          </a:p>
          <a:p>
            <a:pPr>
              <a:defRPr sz="800" i="1"/>
            </a:pPr>
            <a:r>
              <a:t>"Acquire 500 new manufacturing customers in North America by December 2026."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512064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DC2626"/>
                </a:solidFill>
              </a:defRPr>
            </a:pPr>
            <a:r>
              <a:t>INCORRECT</a:t>
            </a:r>
          </a:p>
          <a:p>
            <a:pPr>
              <a:defRPr sz="800" i="1"/>
            </a:pPr>
            <a:r>
              <a:t>"Grow market share significantly."</a:t>
            </a:r>
          </a:p>
          <a:p>
            <a:pPr>
              <a:defRPr sz="700">
                <a:solidFill>
                  <a:srgbClr val="DC2626"/>
                </a:solidFill>
              </a:defRPr>
            </a:pPr>
            <a:r>
              <a:t>  Vague, no metrics, no deadline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828800"/>
            <a:ext cx="1097280" cy="3200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TACTICS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19456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374151"/>
                </a:solidFill>
              </a:defRPr>
            </a:pPr>
            <a:r>
              <a:t>How to execute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46888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D97706"/>
                </a:solidFill>
              </a:defRPr>
            </a:pPr>
            <a:r>
              <a:t>DEFINITION</a:t>
            </a:r>
          </a:p>
          <a:p>
            <a:pPr>
              <a:defRPr sz="900"/>
            </a:pPr>
            <a:r>
              <a:t>Specific actions, initiatives, or methods employed to execute strategy and achieve goals--operational, short-term, and adjustable.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4747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D97706"/>
                </a:solidFill>
              </a:defRPr>
            </a:pPr>
            <a:r>
              <a:t>KEY COMPONENTS</a:t>
            </a:r>
          </a:p>
          <a:p>
            <a:pPr>
              <a:defRPr sz="900"/>
            </a:pPr>
            <a:r>
              <a:t>  Short-term</a:t>
            </a:r>
          </a:p>
          <a:p>
            <a:pPr>
              <a:defRPr sz="900"/>
            </a:pPr>
            <a:r>
              <a:t>  Actionable</a:t>
            </a:r>
          </a:p>
          <a:p>
            <a:pPr>
              <a:defRPr sz="900"/>
            </a:pPr>
            <a:r>
              <a:t>  Adjustable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29768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6A34A"/>
                </a:solidFill>
              </a:defRPr>
            </a:pPr>
            <a:r>
              <a:t>CORRECT</a:t>
            </a:r>
          </a:p>
          <a:p>
            <a:pPr>
              <a:defRPr sz="800" i="1"/>
            </a:pPr>
            <a:r>
              <a:t>"Sponsor NAM conference; hire 3 vertical sales reps; launch LinkedIn campaign."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512064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DC2626"/>
                </a:solidFill>
              </a:defRPr>
            </a:pPr>
            <a:r>
              <a:t>INCORRECT</a:t>
            </a:r>
          </a:p>
          <a:p>
            <a:pPr>
              <a:defRPr sz="800" i="1"/>
            </a:pPr>
            <a:r>
              <a:t>"Do more marketing and sales."</a:t>
            </a:r>
          </a:p>
          <a:p>
            <a:pPr>
              <a:defRPr sz="700">
                <a:solidFill>
                  <a:srgbClr val="DC2626"/>
                </a:solidFill>
              </a:defRPr>
            </a:pPr>
            <a:r>
              <a:t>  Not actionable, no specific activity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035040"/>
            <a:ext cx="12191695" cy="36576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Strategy defines what NOT to do  |  Goals are measurable targets  |  Tactics are swappable actions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74151"/>
                </a:solidFill>
              </a:defRPr>
            </a:pPr>
            <a:r>
              <a:t>Porter, M. "What Is Strategy?" HBR, 1996 | Martin, R. "The Big Lie of Strategic Planning" HBR, 2014 | McKinsey &amp;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Strategy Creates Alignment--Its Absence Creates Chaos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05840"/>
            <a:ext cx="5669280" cy="4754880"/>
          </a:xfrm>
          <a:prstGeom prst="roundRect">
            <a:avLst/>
          </a:prstGeom>
          <a:solidFill>
            <a:srgbClr val="FEE2E2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DC2626"/>
                </a:solidFill>
              </a:defRPr>
            </a:pPr>
            <a:r>
              <a:t>WITHOUT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No guardrails --&gt; scattered effort, wasted resources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4754880" cy="457200"/>
          </a:xfrm>
          <a:prstGeom prst="rect">
            <a:avLst/>
          </a:prstGeom>
          <a:solidFill>
            <a:srgbClr val="FFFFFF"/>
          </a:solidFill>
          <a:ln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/>
            </a:pPr>
            <a:r>
              <a:t>? No Strategy Defined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86000"/>
            <a:ext cx="4754880" cy="365760"/>
          </a:xfrm>
          <a:prstGeom prst="rect">
            <a:avLst/>
          </a:prstGeom>
          <a:solidFill>
            <a:srgbClr val="1E40A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GOAL: Grow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7432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DC2626"/>
                </a:solidFill>
              </a:defRPr>
            </a:pPr>
            <a:r>
              <a:t>NO GUARDRAILS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900"/>
            </a:pPr>
            <a:r>
              <a:t>Employee A --&gt; "Cut all costs"</a:t>
            </a:r>
          </a:p>
          <a:p>
            <a:pPr>
              <a:defRPr sz="900"/>
            </a:pPr>
            <a:r>
              <a:t>Employee B --&gt; "Chase enterprise accounts"</a:t>
            </a:r>
          </a:p>
          <a:p>
            <a:pPr>
              <a:defRPr sz="900"/>
            </a:pPr>
            <a:r>
              <a:t>Employee C --&gt; "Expand globally"</a:t>
            </a:r>
          </a:p>
          <a:p>
            <a:pPr>
              <a:defRPr sz="900"/>
            </a:pPr>
            <a:r>
              <a:t>Employee D --&gt; "Discount heavily"</a:t>
            </a:r>
          </a:p>
          <a:p>
            <a:pPr>
              <a:defRPr sz="900"/>
            </a:pPr>
            <a:r>
              <a:t>Employee E --&gt; "Build new features"</a:t>
            </a:r>
          </a:p>
          <a:p>
            <a:pPr>
              <a:defRPr sz="900"/>
            </a:pPr>
            <a:r>
              <a:t>Employee F --&gt; "Focus on SMB"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120640"/>
            <a:ext cx="4754880" cy="411480"/>
          </a:xfrm>
          <a:prstGeom prst="rect">
            <a:avLst/>
          </a:prstGeom>
          <a:solidFill>
            <a:srgbClr val="DC262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RESULT: Conflicting priorities, organizational drift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05840"/>
            <a:ext cx="5669280" cy="4754880"/>
          </a:xfrm>
          <a:prstGeom prst="roundRect">
            <a:avLst/>
          </a:prstGeom>
          <a:solidFill>
            <a:srgbClr val="D1FAE5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09728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59669"/>
                </a:solidFill>
              </a:defRPr>
            </a:pPr>
            <a:r>
              <a:t>WITH STRATEGY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41732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/>
            </a:pPr>
            <a:r>
              <a:t>Clear guardrails --&gt; aligned execution, compounding advantage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0" y="1737360"/>
            <a:ext cx="4754880" cy="640080"/>
          </a:xfrm>
          <a:prstGeom prst="rect">
            <a:avLst/>
          </a:prstGeom>
          <a:solidFill>
            <a:srgbClr val="05966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STRATEGY: Win mid-market manufacturing</a:t>
            </a:r>
          </a:p>
          <a:p>
            <a:pPr algn="ctr">
              <a:defRPr sz="900">
                <a:solidFill>
                  <a:srgbClr val="FFFFFF"/>
                </a:solidFill>
              </a:defRPr>
            </a:pPr>
            <a:r>
              <a:t>Trade-off: NOT enterprise, NOT horizontal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0" y="2468880"/>
            <a:ext cx="4754880" cy="365760"/>
          </a:xfrm>
          <a:prstGeom prst="rect">
            <a:avLst/>
          </a:prstGeom>
          <a:solidFill>
            <a:srgbClr val="1E40A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GOAL: 500 Mfg Customers by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017520"/>
            <a:ext cx="3657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059669"/>
                </a:solidFill>
              </a:defRPr>
            </a:pPr>
            <a:r>
              <a:t>G</a:t>
            </a:r>
            <a:br/>
            <a:r>
              <a:t>U</a:t>
            </a:r>
            <a:br/>
            <a:r>
              <a:t>A</a:t>
            </a:r>
            <a:br/>
            <a:r>
              <a:t>R</a:t>
            </a:r>
            <a:br/>
            <a:r>
              <a:t>D</a:t>
            </a:r>
            <a:br/>
            <a:r>
              <a:t>R</a:t>
            </a:r>
            <a:br/>
            <a:r>
              <a:t>A</a:t>
            </a:r>
            <a:br/>
            <a:r>
              <a:t>I</a:t>
            </a:r>
            <a:br/>
            <a:r>
              <a:t>L</a:t>
            </a:r>
            <a:br/>
            <a:r>
              <a:t>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3017520"/>
            <a:ext cx="3657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059669"/>
                </a:solidFill>
              </a:defRPr>
            </a:pPr>
            <a:r>
              <a:t>G</a:t>
            </a:r>
            <a:br/>
            <a:r>
              <a:t>U</a:t>
            </a:r>
            <a:br/>
            <a:r>
              <a:t>A</a:t>
            </a:r>
            <a:br/>
            <a:r>
              <a:t>R</a:t>
            </a:r>
            <a:br/>
            <a:r>
              <a:t>D</a:t>
            </a:r>
            <a:br/>
            <a:r>
              <a:t>R</a:t>
            </a:r>
            <a:br/>
            <a:r>
              <a:t>A</a:t>
            </a:r>
            <a:br/>
            <a:r>
              <a:t>I</a:t>
            </a:r>
            <a:br/>
            <a:r>
              <a:t>L</a:t>
            </a:r>
            <a:br/>
            <a:r>
              <a:t>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926080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900"/>
            </a:pPr>
            <a:r>
              <a:t>All employees aligned:</a:t>
            </a:r>
          </a:p>
          <a:p>
            <a:pPr>
              <a:defRPr sz="900"/>
            </a:pPr>
            <a:r>
              <a:t>  --&gt; NAM conference sponsor</a:t>
            </a:r>
          </a:p>
          <a:p>
            <a:pPr>
              <a:defRPr sz="900"/>
            </a:pPr>
            <a:r>
              <a:t>  --&gt; 3 vertical sales reps</a:t>
            </a:r>
          </a:p>
          <a:p>
            <a:pPr>
              <a:defRPr sz="900"/>
            </a:pPr>
            <a:r>
              <a:t>  --&gt; Mfg LinkedIn campaign</a:t>
            </a:r>
          </a:p>
          <a:p>
            <a:pPr>
              <a:defRPr sz="900"/>
            </a:pPr>
            <a:r>
              <a:t>  --&gt; Industry case studies</a:t>
            </a:r>
          </a:p>
          <a:p>
            <a:pPr>
              <a:defRPr sz="900"/>
            </a:pPr>
            <a:r>
              <a:t>  --&gt; Plant manager outreach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20" y="5120640"/>
            <a:ext cx="4754880" cy="411480"/>
          </a:xfrm>
          <a:prstGeom prst="rect">
            <a:avLst/>
          </a:prstGeom>
          <a:solidFill>
            <a:srgbClr val="05966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RESULT: Reinforcing tactics, compounding advantage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5852160"/>
            <a:ext cx="12191695" cy="45720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i="1">
                <a:solidFill>
                  <a:srgbClr val="FFFFFF"/>
                </a:solidFill>
              </a:defRPr>
            </a:pPr>
            <a:r>
              <a:t>"The essence of strategy is choosing what not to do." -- Michael Porter</a:t>
            </a:r>
          </a:p>
          <a:p>
            <a:pPr algn="ctr">
              <a:defRPr sz="1000">
                <a:solidFill>
                  <a:srgbClr val="FFFFFF"/>
                </a:solidFill>
              </a:defRPr>
            </a:pPr>
            <a:r>
              <a:t>Trade-offs create guardrails that align everyone's tactics toward the goal.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74151"/>
                </a:solidFill>
              </a:defRPr>
            </a:pPr>
            <a:r>
              <a:t>Porter, M. "What Is Strategy?" HBR, 1996 | McKinsey Quarterly. "Strategic choices that lead to results"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