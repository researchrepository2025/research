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401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vs. Goals vs. Tactics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6700" y="5334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hierarchy of corporate planning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66700" y="1026468"/>
            <a:ext cx="2755850" cy="3393281"/>
          </a:xfrm>
          <a:prstGeom prst="roundRect">
            <a:avLst>
              <a:gd name="adj" fmla="val 276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159818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00050" y="135210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&amp; how to compete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0050" y="1733104"/>
            <a:ext cx="2489150" cy="674191"/>
          </a:xfrm>
          <a:prstGeom prst="roundRect">
            <a:avLst>
              <a:gd name="adj" fmla="val 847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1828354"/>
            <a:ext cx="2344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2018854"/>
            <a:ext cx="234462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set of choices that position the organization to win—including what NOT to do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0050" y="2654945"/>
            <a:ext cx="2489150" cy="686693"/>
          </a:xfrm>
          <a:prstGeom prst="rect">
            <a:avLst/>
          </a:prstGeom>
          <a:solidFill>
            <a:srgbClr val="2D865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14338" y="2654945"/>
            <a:ext cx="0" cy="686693"/>
          </a:xfrm>
          <a:prstGeom prst="line">
            <a:avLst/>
          </a:prstGeom>
          <a:noFill/>
          <a:ln w="28575">
            <a:solidFill>
              <a:srgbClr val="2D86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875" y="2731145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D86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23875" y="2879675"/>
            <a:ext cx="231547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"Dominate mid-market manufacturing software through vertical specialization. We will NOT pursue enterprise or horizontal apps."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0050" y="3570238"/>
            <a:ext cx="2489150" cy="716161"/>
          </a:xfrm>
          <a:prstGeom prst="rect">
            <a:avLst/>
          </a:prstGeom>
          <a:solidFill>
            <a:srgbClr val="E63946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14338" y="3570238"/>
            <a:ext cx="0" cy="716161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875" y="3646438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23875" y="3794968"/>
            <a:ext cx="23154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 the best software company and grow revenue 20%."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3875" y="4090243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No choices, no trade-offs—this is a goal, not a strategy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174950" y="1053257"/>
            <a:ext cx="2793950" cy="3339852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9050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27350" y="1205657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327350" y="1397943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outcomes to achieve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27350" y="1778943"/>
            <a:ext cx="2489150" cy="839837"/>
          </a:xfrm>
          <a:prstGeom prst="roundRect">
            <a:avLst>
              <a:gd name="adj" fmla="val 680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32125" y="1883718"/>
            <a:ext cx="2325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32125" y="2074218"/>
            <a:ext cx="2325192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measurable outcomes with defined timeframes (SMART: Specific, Measurable, Achievable, Relevant, Time-bound)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327350" y="2866430"/>
            <a:ext cx="2489150" cy="558105"/>
          </a:xfrm>
          <a:prstGeom prst="rect">
            <a:avLst/>
          </a:prstGeom>
          <a:solidFill>
            <a:srgbClr val="2D865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41638" y="2866430"/>
            <a:ext cx="0" cy="558105"/>
          </a:xfrm>
          <a:prstGeom prst="line">
            <a:avLst/>
          </a:prstGeom>
          <a:noFill/>
          <a:ln w="28575">
            <a:solidFill>
              <a:srgbClr val="2D86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1175" y="2942630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D86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451175" y="3091160"/>
            <a:ext cx="23154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"Acquire 500 new manufacturing customers in North America by December 2026."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27350" y="3653135"/>
            <a:ext cx="2489150" cy="587573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341638" y="3653135"/>
            <a:ext cx="0" cy="587573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1175" y="3729335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451175" y="3877866"/>
            <a:ext cx="231547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"Grow market share significantly."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51175" y="4044553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Vague, no metrics, no deadline—unmeasurable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121301" y="1145530"/>
            <a:ext cx="2755850" cy="3155156"/>
          </a:xfrm>
          <a:prstGeom prst="roundRect">
            <a:avLst>
              <a:gd name="adj" fmla="val 2765"/>
            </a:avLst>
          </a:prstGeom>
          <a:solidFill>
            <a:srgbClr val="E8E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54651" y="1278880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254651" y="1471166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execute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54651" y="1852166"/>
            <a:ext cx="2489150" cy="693241"/>
          </a:xfrm>
          <a:prstGeom prst="roundRect">
            <a:avLst>
              <a:gd name="adj" fmla="val 824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9426" y="1956941"/>
            <a:ext cx="2325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59426" y="2147441"/>
            <a:ext cx="232519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actions and initiatives to achieve goals. Short-term, adjustable, with clear ownership.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254651" y="2793057"/>
            <a:ext cx="2489150" cy="558105"/>
          </a:xfrm>
          <a:prstGeom prst="rect">
            <a:avLst/>
          </a:prstGeom>
          <a:solidFill>
            <a:srgbClr val="2D865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268938" y="2793057"/>
            <a:ext cx="0" cy="558105"/>
          </a:xfrm>
          <a:prstGeom prst="line">
            <a:avLst/>
          </a:prstGeom>
          <a:noFill/>
          <a:ln w="28575">
            <a:solidFill>
              <a:srgbClr val="2D86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8476" y="2869257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2D86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378476" y="3017788"/>
            <a:ext cx="23154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"Sponsor NAM conference; hire 3 vertical sales reps; launch LinkedIn campaign targeting plant managers."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54651" y="3579763"/>
            <a:ext cx="2489150" cy="587573"/>
          </a:xfrm>
          <a:prstGeom prst="rect">
            <a:avLst/>
          </a:prstGeom>
          <a:solidFill>
            <a:srgbClr val="E6394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268938" y="3579763"/>
            <a:ext cx="0" cy="587573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8476" y="3655963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378476" y="3804493"/>
            <a:ext cx="231547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more marketing and sales."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78476" y="3971181"/>
            <a:ext cx="23154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i="1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Not actionable—no specific activity or owner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266700" y="4713982"/>
            <a:ext cx="8610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6700" y="477589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Strategy defines what NOT to do • Goals are measurable targets • Tactics are swappable actions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47650"/>
            <a:ext cx="655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Creates Alignment—Its Absence Creates Chaos</a:t>
            </a:r>
            <a:endParaRPr lang="en-US" sz="1950" dirty="0"/>
          </a:p>
        </p:txBody>
      </p:sp>
      <p:pic>
        <p:nvPicPr>
          <p:cNvPr id="3" name="Image 0" descr="/tmp/rasterized-gradient-c4c58e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803970"/>
            <a:ext cx="4210050" cy="3672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0047" y="956370"/>
            <a:ext cx="39833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WITHOUT STRATEGY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0047" y="118110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tactics, misaligned effort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514475" y="1581150"/>
            <a:ext cx="1714500" cy="381000"/>
          </a:xfrm>
          <a:prstGeom prst="roundRect">
            <a:avLst>
              <a:gd name="adj" fmla="val 15000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99940" y="1698278"/>
            <a:ext cx="962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Strategy Defined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1962150" y="2038350"/>
            <a:ext cx="19050" cy="190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62200" y="2038350"/>
            <a:ext cx="19050" cy="190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62250" y="2038350"/>
            <a:ext cx="19050" cy="1905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19225" y="2305050"/>
            <a:ext cx="1905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41587" y="2403128"/>
            <a:ext cx="1285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GOAL: Grow Revenue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837828" y="2864569"/>
            <a:ext cx="122355" cy="95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GUARDRAILS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3785667" y="2864569"/>
            <a:ext cx="122355" cy="95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GUARDRAILS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1291828" y="277177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CAC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21839" y="3020861"/>
            <a:ext cx="282878" cy="282878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224034" y="3190875"/>
            <a:ext cx="47848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"Cut all costs"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930723" y="27241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CAC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034393" y="3116339"/>
            <a:ext cx="135560" cy="215747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778676" y="3362325"/>
            <a:ext cx="64714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"Chase enterprise"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200201" y="343673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CAC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247049" y="3702663"/>
            <a:ext cx="249202" cy="249202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069710" y="3855839"/>
            <a:ext cx="6040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"Expand globally"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171277" y="324802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ECAC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284911" y="3501034"/>
            <a:ext cx="115633" cy="275033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038225" y="3667125"/>
            <a:ext cx="6211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"Discount heavily"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134814" y="4076700"/>
            <a:ext cx="2473821" cy="247650"/>
          </a:xfrm>
          <a:prstGeom prst="roundRect">
            <a:avLst>
              <a:gd name="adj" fmla="val 15385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268164" y="4133850"/>
            <a:ext cx="2251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Wasted resources, conflicting priorities</a:t>
            </a:r>
            <a:endParaRPr lang="en-US" sz="750" dirty="0"/>
          </a:p>
        </p:txBody>
      </p:sp>
      <p:pic>
        <p:nvPicPr>
          <p:cNvPr id="29" name="Image 1" descr="/tmp/rasterized-gradient-a2927a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874514"/>
            <a:ext cx="4210050" cy="353169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780597" y="1026914"/>
            <a:ext cx="39833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D86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WITH STRATEGY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780597" y="125164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choices create aligned execution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629275" y="1651695"/>
            <a:ext cx="2286000" cy="45720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823801" y="1756470"/>
            <a:ext cx="189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</a:t>
            </a:r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 mid-market manufacturing
</a:t>
            </a:r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NOT enterprise, NOT horizontal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5819775" y="2270820"/>
            <a:ext cx="1905000" cy="0"/>
          </a:xfrm>
          <a:prstGeom prst="line">
            <a:avLst/>
          </a:prstGeom>
          <a:noFill/>
          <a:ln w="171450">
            <a:solidFill>
              <a:srgbClr val="2D865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248525" y="2185095"/>
            <a:ext cx="0" cy="171450"/>
          </a:xfrm>
          <a:prstGeom prst="line">
            <a:avLst/>
          </a:prstGeom>
          <a:noFill/>
          <a:ln w="952500">
            <a:solidFill>
              <a:srgbClr val="FFFFF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96025" y="2185095"/>
            <a:ext cx="0" cy="171450"/>
          </a:xfrm>
          <a:prstGeom prst="line">
            <a:avLst/>
          </a:prstGeom>
          <a:noFill/>
          <a:ln w="95250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19775" y="2432745"/>
            <a:ext cx="1905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D86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025753" y="2530822"/>
            <a:ext cx="15229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GOAL: 500 Mfg Customers</a:t>
            </a:r>
            <a:endParaRPr lang="en-US" sz="825" dirty="0"/>
          </a:p>
        </p:txBody>
      </p:sp>
      <p:pic>
        <p:nvPicPr>
          <p:cNvPr id="39" name="Image 2" descr="/tmp/rasterized-gradient-bc5127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2851845"/>
            <a:ext cx="28575" cy="944761"/>
          </a:xfrm>
          <a:prstGeom prst="rect">
            <a:avLst/>
          </a:prstGeom>
        </p:spPr>
      </p:pic>
      <p:pic>
        <p:nvPicPr>
          <p:cNvPr id="40" name="Image 3" descr="/tmp/rasterized-gradient-1d521e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075" y="2851845"/>
            <a:ext cx="28575" cy="944761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235922" y="3038475"/>
            <a:ext cx="12235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86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675" dirty="0"/>
          </a:p>
        </p:txBody>
      </p:sp>
      <p:sp>
        <p:nvSpPr>
          <p:cNvPr id="42" name="Text 36"/>
          <p:cNvSpPr/>
          <p:nvPr/>
        </p:nvSpPr>
        <p:spPr>
          <a:xfrm>
            <a:off x="8188672" y="3038475"/>
            <a:ext cx="12235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86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675" dirty="0"/>
          </a:p>
        </p:txBody>
      </p:sp>
      <p:sp>
        <p:nvSpPr>
          <p:cNvPr id="43" name="Text 37"/>
          <p:cNvSpPr/>
          <p:nvPr/>
        </p:nvSpPr>
        <p:spPr>
          <a:xfrm>
            <a:off x="5400675" y="294709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BF7D0"/>
          </a:solidFill>
          <a:ln w="19050">
            <a:solidFill>
              <a:srgbClr val="2D86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562600" y="3328095"/>
            <a:ext cx="19050" cy="266700"/>
          </a:xfrm>
          <a:prstGeom prst="rect">
            <a:avLst/>
          </a:prstGeom>
          <a:solidFill>
            <a:srgbClr val="2D86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39"/>
          <p:cNvSpPr/>
          <p:nvPr/>
        </p:nvSpPr>
        <p:spPr>
          <a:xfrm>
            <a:off x="5524500" y="3632895"/>
            <a:ext cx="95250" cy="0"/>
          </a:xfrm>
          <a:prstGeom prst="line">
            <a:avLst/>
          </a:prstGeom>
          <a:noFill/>
          <a:ln w="76200">
            <a:solidFill>
              <a:srgbClr val="2D8659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595938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548313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280660" y="3690045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 sponsor</a:t>
            </a:r>
            <a:endParaRPr lang="en-US" sz="600" dirty="0"/>
          </a:p>
        </p:txBody>
      </p:sp>
      <p:sp>
        <p:nvSpPr>
          <p:cNvPr id="49" name="Text 43"/>
          <p:cNvSpPr/>
          <p:nvPr/>
        </p:nvSpPr>
        <p:spPr>
          <a:xfrm>
            <a:off x="6200775" y="294709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BF7D0"/>
          </a:solidFill>
          <a:ln w="19050">
            <a:solidFill>
              <a:srgbClr val="2D86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6362700" y="3328095"/>
            <a:ext cx="19050" cy="266700"/>
          </a:xfrm>
          <a:prstGeom prst="rect">
            <a:avLst/>
          </a:prstGeom>
          <a:solidFill>
            <a:srgbClr val="2D86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5"/>
          <p:cNvSpPr/>
          <p:nvPr/>
        </p:nvSpPr>
        <p:spPr>
          <a:xfrm>
            <a:off x="6324600" y="3632895"/>
            <a:ext cx="95250" cy="0"/>
          </a:xfrm>
          <a:prstGeom prst="line">
            <a:avLst/>
          </a:prstGeom>
          <a:noFill/>
          <a:ln w="76200">
            <a:solidFill>
              <a:srgbClr val="2D8659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396038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348413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080760" y="3690045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reps</a:t>
            </a:r>
            <a:endParaRPr lang="en-US" sz="600" dirty="0"/>
          </a:p>
        </p:txBody>
      </p:sp>
      <p:sp>
        <p:nvSpPr>
          <p:cNvPr id="55" name="Text 49"/>
          <p:cNvSpPr/>
          <p:nvPr/>
        </p:nvSpPr>
        <p:spPr>
          <a:xfrm>
            <a:off x="7000875" y="294709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BF7D0"/>
          </a:solidFill>
          <a:ln w="19050">
            <a:solidFill>
              <a:srgbClr val="2D86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7162800" y="3328095"/>
            <a:ext cx="19050" cy="266700"/>
          </a:xfrm>
          <a:prstGeom prst="rect">
            <a:avLst/>
          </a:prstGeom>
          <a:solidFill>
            <a:srgbClr val="2D86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1"/>
          <p:cNvSpPr/>
          <p:nvPr/>
        </p:nvSpPr>
        <p:spPr>
          <a:xfrm>
            <a:off x="7124700" y="3632895"/>
            <a:ext cx="95250" cy="0"/>
          </a:xfrm>
          <a:prstGeom prst="line">
            <a:avLst/>
          </a:prstGeom>
          <a:noFill/>
          <a:ln w="76200">
            <a:solidFill>
              <a:srgbClr val="2D8659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7196138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7148513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6880860" y="3690045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Mfg LinkedIn</a:t>
            </a:r>
            <a:endParaRPr lang="en-US" sz="600" dirty="0"/>
          </a:p>
        </p:txBody>
      </p:sp>
      <p:sp>
        <p:nvSpPr>
          <p:cNvPr id="61" name="Text 55"/>
          <p:cNvSpPr/>
          <p:nvPr/>
        </p:nvSpPr>
        <p:spPr>
          <a:xfrm>
            <a:off x="7800975" y="294709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BF7D0"/>
          </a:solidFill>
          <a:ln w="19050">
            <a:solidFill>
              <a:srgbClr val="2D86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7962900" y="3328095"/>
            <a:ext cx="19050" cy="266700"/>
          </a:xfrm>
          <a:prstGeom prst="rect">
            <a:avLst/>
          </a:prstGeom>
          <a:solidFill>
            <a:srgbClr val="2D86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57"/>
          <p:cNvSpPr/>
          <p:nvPr/>
        </p:nvSpPr>
        <p:spPr>
          <a:xfrm>
            <a:off x="7924800" y="3632895"/>
            <a:ext cx="95250" cy="0"/>
          </a:xfrm>
          <a:prstGeom prst="line">
            <a:avLst/>
          </a:prstGeom>
          <a:noFill/>
          <a:ln w="76200">
            <a:solidFill>
              <a:srgbClr val="2D8659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7996237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7948612" y="3594795"/>
            <a:ext cx="0" cy="762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7680960" y="3690045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600" dirty="0"/>
          </a:p>
        </p:txBody>
      </p:sp>
      <p:sp>
        <p:nvSpPr>
          <p:cNvPr id="67" name="Text 61"/>
          <p:cNvSpPr/>
          <p:nvPr/>
        </p:nvSpPr>
        <p:spPr>
          <a:xfrm>
            <a:off x="5409307" y="4006155"/>
            <a:ext cx="2725936" cy="247650"/>
          </a:xfrm>
          <a:prstGeom prst="roundRect">
            <a:avLst>
              <a:gd name="adj" fmla="val 15385"/>
            </a:avLst>
          </a:prstGeom>
          <a:solidFill>
            <a:srgbClr val="2D86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5542657" y="4063305"/>
            <a:ext cx="25084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Reinforcing tactics, compounding advantage</a:t>
            </a:r>
            <a:endParaRPr lang="en-US" sz="750" dirty="0"/>
          </a:p>
        </p:txBody>
      </p:sp>
      <p:sp>
        <p:nvSpPr>
          <p:cNvPr id="69" name="Shape 63"/>
          <p:cNvSpPr/>
          <p:nvPr/>
        </p:nvSpPr>
        <p:spPr>
          <a:xfrm>
            <a:off x="266700" y="4713982"/>
            <a:ext cx="8610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266700" y="4775895"/>
            <a:ext cx="8782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"The essence of strategy is choosing what not to do." Trade-offs create guardrails that align everyone's tactics toward the goal.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Strategy, Goals &amp; Tactics</dc:title>
  <dc:subject>PptxGenJS Presentation</dc:subject>
  <dc:creator>Corporate Strategy</dc:creator>
  <cp:lastModifiedBy>Corporate Strategy</cp:lastModifiedBy>
  <cp:revision>1</cp:revision>
  <dcterms:created xsi:type="dcterms:W3CDTF">2025-12-16T13:49:48Z</dcterms:created>
  <dcterms:modified xsi:type="dcterms:W3CDTF">2025-12-16T13:49:48Z</dcterms:modified>
</cp:coreProperties>
</file>